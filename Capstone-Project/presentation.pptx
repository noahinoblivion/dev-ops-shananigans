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my final DevOps Capstone project: TaskBoard. TaskBoard is a production-grade demonstration of modern cloud-native engineering and DevSecOps. Rather than treating tools in isolation, this project implements a complete pipeline that takes code from a developer's workstation, through rigorous security gates and automated testing, into an AWS EKS cluster managed declaratively by Helm and monitored continuously by Prometheus and Grafana.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high-level architecture diagram. It is organized into four interconnected tiers: First, our Delivery Tier runs on GitHub Actions, handling test automation, containerization, and DevSecOps scans. Second, our Infrastructure Tier is provisioned with Terraform on AWS, delivering an EKS cluster inside a secure VPC. Third, our Orchestration Tier uses Helm to manage multi-replica microservices, ingress routing, and autoscaling. Finally, our Observability Tier pulls metrics into Prometheus and Grafana for real-time SRE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application layer, TaskBoard is composed of a FastAPI backend and a React single-page frontend. Crucially for DevOps, the backend implements discrete /health and /ready endpoints. The health endpoint checks process liveness, while the readiness endpoint verifies active database connectivity before Kubernetes routes user traffic. For security, both containers run strictly as non-privileged non-root users, ensuring root privilege escalation inside containers is blocked.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continuous integration pipeline in GitHub Actions enforces our DevSecOps philosophy. First, Pytest executes as the quality gate. Next, images are built and scanned by Trivy for HIGH and CRITICAL vulnerabilities. Images are tagged strictly with the Git commit SHA rather than 'latest', providing an immutable audit trail. Finally, the pipeline spins up an ephemeral Kind cluster in the runner to test actual deployment readiness before merging.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infrastructure provisioning, we used Terraform to declare our AWS environment as code. The setup creates a resilient multi-AZ VPC equipped with public subnets, NAT gateways, and an EKS 1.31 managed cluster. The configuration follows industry standards: zero credentials in code, clear input variables with terraform.tfvars.example, and an verified destroy lifecycle ensuring all cloud resources can be cleanly decommissioned.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Kubernetes runtime operations, our entire application is packaged as a Helm chart. We configure dual replicas for high availability, paired with liveness and readiness probes to guarantee zero-downtime rolling updates. An Nginx Ingress controller routes user traffic through a single entrypoint, directing UI requests to the frontend and API traffic to the backend. Under peak traffic, our Horizontal Pod Autoscaler automatically scales our backend pods from 2 up to 6 instances.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core competency of a DevOps engineer is troubleshooting live cluster failures. In Session 21, we resolved two critical failure scenarios: First, an ImagePullBackOff error caused by a typo in the registry repository tag. We investigated using kubectl describe, identified the faulty image URI, and patched the deployment to restore normal operations. Second, a broken service reporting zero endpoints. By analyzing the service's selector labels against the pod's template labels, we detected the mismatch, patched the service manifest, and verified that endpoint routing was immediately restored.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completes the DevOps loop. Our backend is instrumented with Prometheus client middleware exposing /metrics. Prometheus scrapes these endpoints, and Grafana visualizes the key RED metrics: Request Rate, Error Rate, and Duration. During our load testing, we watched real-time traffic spikes trigger Horizontal Pod Autoscaling, verifying that our application dynamically responds to traffic surges without degrading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TaskBoard satisfies every requirement of the 100-point Capstone rubric. More importantly, it demonstrates core cloud-native engineering principles: shifting security left, using immutable container tags, managing infrastructure through code, and designing self-healing, observable systems. Thank you for your time, and I am now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457200"/>
          </a:xfrm>
          <a:prstGeom prst="rect">
            <a:avLst/>
          </a:prstGeom>
          <a:noFill/>
        </p:spPr>
        <p:txBody>
          <a:bodyPr wrap="none">
            <a:spAutoFit/>
          </a:bodyPr>
          <a:lstStyle/>
          <a:p>
            <a:pPr>
              <a:defRPr sz="1300" b="1">
                <a:solidFill>
                  <a:srgbClr val="38BDF8"/>
                </a:solidFill>
              </a:defRPr>
            </a:pPr>
            <a:r>
              <a:t>CAPSTONE PROJECT • SESSION 21</a:t>
            </a:r>
          </a:p>
        </p:txBody>
      </p:sp>
      <p:sp>
        <p:nvSpPr>
          <p:cNvPr id="4" name="TextBox 3"/>
          <p:cNvSpPr txBox="1"/>
          <p:nvPr/>
        </p:nvSpPr>
        <p:spPr>
          <a:xfrm>
            <a:off x="914400" y="1554480"/>
            <a:ext cx="10332720" cy="1097280"/>
          </a:xfrm>
          <a:prstGeom prst="rect">
            <a:avLst/>
          </a:prstGeom>
          <a:noFill/>
        </p:spPr>
        <p:txBody>
          <a:bodyPr wrap="square">
            <a:spAutoFit/>
          </a:bodyPr>
          <a:lstStyle/>
          <a:p>
            <a:pPr>
              <a:defRPr sz="3600" b="1">
                <a:solidFill>
                  <a:srgbClr val="F8FAFC"/>
                </a:solidFill>
              </a:defRPr>
            </a:pPr>
            <a:r>
              <a:t>TaskBoard: Cloud-Native DevSecOps Platform</a:t>
            </a:r>
          </a:p>
        </p:txBody>
      </p:sp>
      <p:sp>
        <p:nvSpPr>
          <p:cNvPr id="5" name="TextBox 4"/>
          <p:cNvSpPr txBox="1"/>
          <p:nvPr/>
        </p:nvSpPr>
        <p:spPr>
          <a:xfrm>
            <a:off x="914400" y="2651760"/>
            <a:ext cx="10332720" cy="731520"/>
          </a:xfrm>
          <a:prstGeom prst="rect">
            <a:avLst/>
          </a:prstGeom>
          <a:noFill/>
        </p:spPr>
        <p:txBody>
          <a:bodyPr wrap="square">
            <a:spAutoFit/>
          </a:bodyPr>
          <a:lstStyle/>
          <a:p>
            <a:pPr>
              <a:defRPr sz="1600">
                <a:solidFill>
                  <a:srgbClr val="94A3B8"/>
                </a:solidFill>
              </a:defRPr>
            </a:pPr>
            <a:r>
              <a:t>End-to-End Automated CI/CD, Container Security, AWS Infrastructure as Code, Kubernetes Orchestration &amp; Observability</a:t>
            </a:r>
          </a:p>
        </p:txBody>
      </p:sp>
      <p:sp>
        <p:nvSpPr>
          <p:cNvPr id="6" name="Rounded Rectangle 5"/>
          <p:cNvSpPr/>
          <p:nvPr/>
        </p:nvSpPr>
        <p:spPr>
          <a:xfrm>
            <a:off x="914400" y="3749039"/>
            <a:ext cx="2423160" cy="23774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1500" b="1">
                <a:solidFill>
                  <a:srgbClr val="38BDF8"/>
                </a:solidFill>
              </a:defRPr>
            </a:pPr>
            <a:r>
              <a:t>FastAPI + React + Postgres</a:t>
            </a:r>
          </a:p>
          <a:p>
            <a:pPr>
              <a:defRPr sz="1200">
                <a:solidFill>
                  <a:srgbClr val="F8FAFC"/>
                </a:solidFill>
              </a:defRPr>
            </a:pPr>
            <a:r>
              <a:t>3-Tier Microservice with Alembic migrations and non-root containers</a:t>
            </a:r>
          </a:p>
        </p:txBody>
      </p:sp>
      <p:sp>
        <p:nvSpPr>
          <p:cNvPr id="7" name="Rounded Rectangle 6"/>
          <p:cNvSpPr/>
          <p:nvPr/>
        </p:nvSpPr>
        <p:spPr>
          <a:xfrm>
            <a:off x="3557016" y="3749039"/>
            <a:ext cx="2423160" cy="237744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1500" b="1">
                <a:solidFill>
                  <a:srgbClr val="818CF8"/>
                </a:solidFill>
              </a:defRPr>
            </a:pPr>
            <a:r>
              <a:t>DevSecOps CI/CD</a:t>
            </a:r>
          </a:p>
          <a:p>
            <a:pPr>
              <a:defRPr sz="1200">
                <a:solidFill>
                  <a:srgbClr val="F8FAFC"/>
                </a:solidFill>
              </a:defRPr>
            </a:pPr>
            <a:r>
              <a:t>GitHub Actions + Trivy vulnerability scanning + GHCR SHA-tagging</a:t>
            </a:r>
          </a:p>
        </p:txBody>
      </p:sp>
      <p:sp>
        <p:nvSpPr>
          <p:cNvPr id="8" name="Rounded Rectangle 7"/>
          <p:cNvSpPr/>
          <p:nvPr/>
        </p:nvSpPr>
        <p:spPr>
          <a:xfrm>
            <a:off x="6199632" y="3749039"/>
            <a:ext cx="2423160" cy="23774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1500" b="1">
                <a:solidFill>
                  <a:srgbClr val="34D399"/>
                </a:solidFill>
              </a:defRPr>
            </a:pPr>
            <a:r>
              <a:t>Kubernetes &amp; Helm</a:t>
            </a:r>
          </a:p>
          <a:p>
            <a:pPr>
              <a:defRPr sz="1200">
                <a:solidFill>
                  <a:srgbClr val="F8FAFC"/>
                </a:solidFill>
              </a:defRPr>
            </a:pPr>
            <a:r>
              <a:t>Multi-replica deployments, HPA, Ingress, and self-healing cluster runtime</a:t>
            </a:r>
          </a:p>
        </p:txBody>
      </p:sp>
      <p:sp>
        <p:nvSpPr>
          <p:cNvPr id="9" name="Rounded Rectangle 8"/>
          <p:cNvSpPr/>
          <p:nvPr/>
        </p:nvSpPr>
        <p:spPr>
          <a:xfrm>
            <a:off x="8842248" y="3749039"/>
            <a:ext cx="2423160" cy="23774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1500" b="1">
                <a:solidFill>
                  <a:srgbClr val="FBBF24"/>
                </a:solidFill>
              </a:defRPr>
            </a:pPr>
            <a:r>
              <a:t>Terraform AWS &amp; Metrics</a:t>
            </a:r>
          </a:p>
          <a:p>
            <a:pPr>
              <a:defRPr sz="1200">
                <a:solidFill>
                  <a:srgbClr val="F8FAFC"/>
                </a:solidFill>
              </a:defRPr>
            </a:pPr>
            <a:r>
              <a:t>Modular VPC/EKS IaC + Prometheus metrics &amp; Grafana telemetry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SYSTEM ARCHITECTURE</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End-to-End Cloud-Native Architecture</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Declarative lifecycle from code commit to monitored Kubernetes runtime</a:t>
            </a:r>
          </a:p>
        </p:txBody>
      </p:sp>
      <p:sp>
        <p:nvSpPr>
          <p:cNvPr id="6" name="Rounded Rectangle 5"/>
          <p:cNvSpPr/>
          <p:nvPr/>
        </p:nvSpPr>
        <p:spPr>
          <a:xfrm>
            <a:off x="731520" y="1965960"/>
            <a:ext cx="5212080" cy="20574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8BDF8"/>
                </a:solidFill>
              </a:defRPr>
            </a:pPr>
            <a:r>
              <a:t>1. Delivery Tier (CI/CD &amp; Security)</a:t>
            </a:r>
          </a:p>
          <a:p>
            <a:pPr>
              <a:defRPr sz="1150">
                <a:solidFill>
                  <a:srgbClr val="F8FAFC"/>
                </a:solidFill>
              </a:defRPr>
            </a:pPr>
            <a:r>
              <a:t>• Git Push to 'main' triggers GitHub Actions</a:t>
            </a:r>
          </a:p>
          <a:p>
            <a:pPr>
              <a:defRPr sz="1150">
                <a:solidFill>
                  <a:srgbClr val="F8FAFC"/>
                </a:solidFill>
              </a:defRPr>
            </a:pPr>
            <a:r>
              <a:t>• Automated Pytest execution (SQLite/mock DB)</a:t>
            </a:r>
          </a:p>
          <a:p>
            <a:pPr>
              <a:defRPr sz="1150">
                <a:solidFill>
                  <a:srgbClr val="F8FAFC"/>
                </a:solidFill>
              </a:defRPr>
            </a:pPr>
            <a:r>
              <a:t>• Multi-stage Docker builds (Backend &amp; Frontend)</a:t>
            </a:r>
          </a:p>
          <a:p>
            <a:pPr>
              <a:defRPr sz="1150">
                <a:solidFill>
                  <a:srgbClr val="F8FAFC"/>
                </a:solidFill>
              </a:defRPr>
            </a:pPr>
            <a:r>
              <a:t>• Trivy scans for HIGH/CRITICAL CVEs</a:t>
            </a:r>
          </a:p>
          <a:p>
            <a:pPr>
              <a:defRPr sz="1150">
                <a:solidFill>
                  <a:srgbClr val="F8FAFC"/>
                </a:solidFill>
              </a:defRPr>
            </a:pPr>
            <a:r>
              <a:t>• Immutable GHCR image publishing tagged with Git commit SHA</a:t>
            </a:r>
          </a:p>
        </p:txBody>
      </p:sp>
      <p:sp>
        <p:nvSpPr>
          <p:cNvPr id="7" name="Rounded Rectangle 6"/>
          <p:cNvSpPr/>
          <p:nvPr/>
        </p:nvSpPr>
        <p:spPr>
          <a:xfrm>
            <a:off x="6245352" y="1965960"/>
            <a:ext cx="5212080" cy="2057400"/>
          </a:xfrm>
          <a:prstGeom prst="roundRect">
            <a:avLst/>
          </a:prstGeom>
          <a:solidFill>
            <a:srgbClr val="1E293B"/>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818CF8"/>
                </a:solidFill>
              </a:defRPr>
            </a:pPr>
            <a:r>
              <a:t>2. Infrastructure Tier (AWS &amp; Terraform)</a:t>
            </a:r>
          </a:p>
          <a:p>
            <a:pPr>
              <a:defRPr sz="1150">
                <a:solidFill>
                  <a:srgbClr val="F8FAFC"/>
                </a:solidFill>
              </a:defRPr>
            </a:pPr>
            <a:r>
              <a:t>• Automated VPC across multiple availability zones</a:t>
            </a:r>
          </a:p>
          <a:p>
            <a:pPr>
              <a:defRPr sz="1150">
                <a:solidFill>
                  <a:srgbClr val="F8FAFC"/>
                </a:solidFill>
              </a:defRPr>
            </a:pPr>
            <a:r>
              <a:t>• Public/Private subnets, Internet &amp; NAT Gateways</a:t>
            </a:r>
          </a:p>
          <a:p>
            <a:pPr>
              <a:defRPr sz="1150">
                <a:solidFill>
                  <a:srgbClr val="F8FAFC"/>
                </a:solidFill>
              </a:defRPr>
            </a:pPr>
            <a:r>
              <a:t>• Managed AWS EKS 1.31 cluster with 2x t3.medium nodes</a:t>
            </a:r>
          </a:p>
          <a:p>
            <a:pPr>
              <a:defRPr sz="1150">
                <a:solidFill>
                  <a:srgbClr val="F8FAFC"/>
                </a:solidFill>
              </a:defRPr>
            </a:pPr>
            <a:r>
              <a:t>• Safe state management &amp; clean terraform destroy lifecycle</a:t>
            </a:r>
          </a:p>
        </p:txBody>
      </p:sp>
      <p:sp>
        <p:nvSpPr>
          <p:cNvPr id="8" name="Rounded Rectangle 7"/>
          <p:cNvSpPr/>
          <p:nvPr/>
        </p:nvSpPr>
        <p:spPr>
          <a:xfrm>
            <a:off x="731520" y="4206240"/>
            <a:ext cx="5212080" cy="20574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4D399"/>
                </a:solidFill>
              </a:defRPr>
            </a:pPr>
            <a:r>
              <a:t>3. Orchestration Tier (Kubernetes &amp; Helm)</a:t>
            </a:r>
          </a:p>
          <a:p>
            <a:pPr>
              <a:defRPr sz="1150">
                <a:solidFill>
                  <a:srgbClr val="F8FAFC"/>
                </a:solidFill>
              </a:defRPr>
            </a:pPr>
            <a:r>
              <a:t>• Packaged via custom Helm chart (helm/taskboard)</a:t>
            </a:r>
          </a:p>
          <a:p>
            <a:pPr>
              <a:defRPr sz="1150">
                <a:solidFill>
                  <a:srgbClr val="F8FAFC"/>
                </a:solidFill>
              </a:defRPr>
            </a:pPr>
            <a:r>
              <a:t>• Decoupled ConfigMaps and Opaque Secrets</a:t>
            </a:r>
          </a:p>
          <a:p>
            <a:pPr>
              <a:defRPr sz="1150">
                <a:solidFill>
                  <a:srgbClr val="F8FAFC"/>
                </a:solidFill>
              </a:defRPr>
            </a:pPr>
            <a:r>
              <a:t>• Dual-replica deployments with Liveness &amp; Readiness probes</a:t>
            </a:r>
          </a:p>
          <a:p>
            <a:pPr>
              <a:defRPr sz="1150">
                <a:solidFill>
                  <a:srgbClr val="F8FAFC"/>
                </a:solidFill>
              </a:defRPr>
            </a:pPr>
            <a:r>
              <a:t>• Nginx Ingress routing (/ -&gt; UI, /api -&gt; Backend)</a:t>
            </a:r>
          </a:p>
          <a:p>
            <a:pPr>
              <a:defRPr sz="1150">
                <a:solidFill>
                  <a:srgbClr val="F8FAFC"/>
                </a:solidFill>
              </a:defRPr>
            </a:pPr>
            <a:r>
              <a:t>• Horizontal Pod Autoscaler (2-6 replicas at 60% CPU)</a:t>
            </a:r>
          </a:p>
        </p:txBody>
      </p:sp>
      <p:sp>
        <p:nvSpPr>
          <p:cNvPr id="9" name="Rounded Rectangle 8"/>
          <p:cNvSpPr/>
          <p:nvPr/>
        </p:nvSpPr>
        <p:spPr>
          <a:xfrm>
            <a:off x="6245352" y="4206240"/>
            <a:ext cx="5212080" cy="20574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FBBF24"/>
                </a:solidFill>
              </a:defRPr>
            </a:pPr>
            <a:r>
              <a:t>4. Observability &amp; SRE Tier</a:t>
            </a:r>
          </a:p>
          <a:p>
            <a:pPr>
              <a:defRPr sz="1150">
                <a:solidFill>
                  <a:srgbClr val="F8FAFC"/>
                </a:solidFill>
              </a:defRPr>
            </a:pPr>
            <a:r>
              <a:t>• FastAPI Prometheus instrumentator at /metrics</a:t>
            </a:r>
          </a:p>
          <a:p>
            <a:pPr>
              <a:defRPr sz="1150">
                <a:solidFill>
                  <a:srgbClr val="F8FAFC"/>
                </a:solidFill>
              </a:defRPr>
            </a:pPr>
            <a:r>
              <a:t>• Prometheus server scraping ServiceMonitors</a:t>
            </a:r>
          </a:p>
          <a:p>
            <a:pPr>
              <a:defRPr sz="1150">
                <a:solidFill>
                  <a:srgbClr val="F8FAFC"/>
                </a:solidFill>
              </a:defRPr>
            </a:pPr>
            <a:r>
              <a:t>• Grafana dashboards tracking request throughput, latency (p95), and HTTP error codes</a:t>
            </a:r>
          </a:p>
          <a:p>
            <a:pPr>
              <a:defRPr sz="1150">
                <a:solidFill>
                  <a:srgbClr val="F8FAFC"/>
                </a:solidFill>
              </a:defRPr>
            </a:pPr>
            <a:r>
              <a:t>• Automated rolling updates with zero downtime</a:t>
            </a:r>
          </a:p>
        </p:txBody>
      </p:sp>
      <p:sp>
        <p:nvSpPr>
          <p:cNvPr id="10" name="TextBox 9"/>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2 of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APPLICATION &amp; CONTAINERIZATION</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Application Tier &amp; Docker Best Practices</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Microservices built for scalability, resilience, and least-privilege security</a:t>
            </a:r>
          </a:p>
        </p:txBody>
      </p:sp>
      <p:sp>
        <p:nvSpPr>
          <p:cNvPr id="6" name="Rounded Rectangle 5"/>
          <p:cNvSpPr/>
          <p:nvPr/>
        </p:nvSpPr>
        <p:spPr>
          <a:xfrm>
            <a:off x="731520" y="1965960"/>
            <a:ext cx="342900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38BDF8"/>
                </a:solidFill>
              </a:defRPr>
            </a:pPr>
            <a:r>
              <a:t>FastAPI Backend</a:t>
            </a:r>
          </a:p>
          <a:p>
            <a:pPr>
              <a:defRPr sz="1200">
                <a:solidFill>
                  <a:srgbClr val="F8FAFC"/>
                </a:solidFill>
              </a:defRPr>
            </a:pPr>
            <a:r>
              <a:t>• High-performance asynchronous Python 3.12 API</a:t>
            </a:r>
          </a:p>
          <a:p>
            <a:pPr>
              <a:defRPr sz="1200">
                <a:solidFill>
                  <a:srgbClr val="F8FAFC"/>
                </a:solidFill>
              </a:defRPr>
            </a:pPr>
            <a:r>
              <a:t>• 6 REST endpoints: GET, POST, PUT, DELETE, and /stats</a:t>
            </a:r>
          </a:p>
          <a:p>
            <a:pPr>
              <a:defRPr sz="1200">
                <a:solidFill>
                  <a:srgbClr val="F8FAFC"/>
                </a:solidFill>
              </a:defRPr>
            </a:pPr>
            <a:r>
              <a:t>• Dedicated /health and /ready endpoints for Kubernetes probes</a:t>
            </a:r>
          </a:p>
          <a:p>
            <a:pPr>
              <a:defRPr sz="1200">
                <a:solidFill>
                  <a:srgbClr val="F8FAFC"/>
                </a:solidFill>
              </a:defRPr>
            </a:pPr>
            <a:r>
              <a:t>• SQLAlchemy 2.0 ORM with Alembic schema migrations</a:t>
            </a:r>
          </a:p>
          <a:p>
            <a:pPr>
              <a:defRPr sz="1200">
                <a:solidFill>
                  <a:srgbClr val="F8FAFC"/>
                </a:solidFill>
              </a:defRPr>
            </a:pPr>
            <a:r>
              <a:t>• Instrumented with Prometheus client middleware</a:t>
            </a:r>
          </a:p>
        </p:txBody>
      </p:sp>
      <p:sp>
        <p:nvSpPr>
          <p:cNvPr id="7" name="Rounded Rectangle 6"/>
          <p:cNvSpPr/>
          <p:nvPr/>
        </p:nvSpPr>
        <p:spPr>
          <a:xfrm>
            <a:off x="4379976" y="1965960"/>
            <a:ext cx="342900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818CF8"/>
                </a:solidFill>
              </a:defRPr>
            </a:pPr>
            <a:r>
              <a:t>React Frontend &amp; DB</a:t>
            </a:r>
          </a:p>
          <a:p>
            <a:pPr>
              <a:defRPr sz="1200">
                <a:solidFill>
                  <a:srgbClr val="F8FAFC"/>
                </a:solidFill>
              </a:defRPr>
            </a:pPr>
            <a:r>
              <a:t>• Single Page App built with React 18 and Vite</a:t>
            </a:r>
          </a:p>
          <a:p>
            <a:pPr>
              <a:defRPr sz="1200">
                <a:solidFill>
                  <a:srgbClr val="F8FAFC"/>
                </a:solidFill>
              </a:defRPr>
            </a:pPr>
            <a:r>
              <a:t>• Real-time Kanban metrics: Total, To-Do, In-Progress, Done</a:t>
            </a:r>
          </a:p>
          <a:p>
            <a:pPr>
              <a:defRPr sz="1200">
                <a:solidFill>
                  <a:srgbClr val="F8FAFC"/>
                </a:solidFill>
              </a:defRPr>
            </a:pPr>
            <a:r>
              <a:t>• Dynamic modal task creation and status updating</a:t>
            </a:r>
          </a:p>
          <a:p>
            <a:pPr>
              <a:defRPr sz="1200">
                <a:solidFill>
                  <a:srgbClr val="F8FAFC"/>
                </a:solidFill>
              </a:defRPr>
            </a:pPr>
            <a:r>
              <a:t>• Nginx reverse proxy handles API routing seamlessly</a:t>
            </a:r>
          </a:p>
          <a:p>
            <a:pPr>
              <a:defRPr sz="1200">
                <a:solidFill>
                  <a:srgbClr val="F8FAFC"/>
                </a:solidFill>
              </a:defRPr>
            </a:pPr>
            <a:r>
              <a:t>• PostgreSQL 16 Alpine persistent storage</a:t>
            </a:r>
          </a:p>
        </p:txBody>
      </p:sp>
      <p:sp>
        <p:nvSpPr>
          <p:cNvPr id="8" name="Rounded Rectangle 7"/>
          <p:cNvSpPr/>
          <p:nvPr/>
        </p:nvSpPr>
        <p:spPr>
          <a:xfrm>
            <a:off x="8028432" y="1965960"/>
            <a:ext cx="342900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34D399"/>
                </a:solidFill>
              </a:defRPr>
            </a:pPr>
            <a:r>
              <a:t>Hardened Docker Containers</a:t>
            </a:r>
          </a:p>
          <a:p>
            <a:pPr>
              <a:defRPr sz="1200">
                <a:solidFill>
                  <a:srgbClr val="F8FAFC"/>
                </a:solidFill>
              </a:defRPr>
            </a:pPr>
            <a:r>
              <a:t>• Backend: Non-root user 'appuser' (UID 10001)</a:t>
            </a:r>
          </a:p>
          <a:p>
            <a:pPr>
              <a:defRPr sz="1200">
                <a:solidFill>
                  <a:srgbClr val="F8FAFC"/>
                </a:solidFill>
              </a:defRPr>
            </a:pPr>
            <a:r>
              <a:t>• Frontend: Multi-stage build (Node compile + unprivileged Nginx runtime)</a:t>
            </a:r>
          </a:p>
          <a:p>
            <a:pPr>
              <a:defRPr sz="1200">
                <a:solidFill>
                  <a:srgbClr val="F8FAFC"/>
                </a:solidFill>
              </a:defRPr>
            </a:pPr>
            <a:r>
              <a:t>• Minimal Alpine image bases for reduced attack surface</a:t>
            </a:r>
          </a:p>
          <a:p>
            <a:pPr>
              <a:defRPr sz="1200">
                <a:solidFill>
                  <a:srgbClr val="F8FAFC"/>
                </a:solidFill>
              </a:defRPr>
            </a:pPr>
            <a:r>
              <a:t>• Docker Compose stack for 1-command local validation: docker compose up --build</a:t>
            </a:r>
          </a:p>
        </p:txBody>
      </p:sp>
      <p:sp>
        <p:nvSpPr>
          <p:cNvPr id="9" name="TextBox 8"/>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3 of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AUTOMATION &amp; DEVSECOPS</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Automated CI/CD &amp; DevSecOps Pipeline</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Shift-left security and zero-touch continuous deployment via GitHub Actions</a:t>
            </a:r>
          </a:p>
        </p:txBody>
      </p:sp>
      <p:sp>
        <p:nvSpPr>
          <p:cNvPr id="6" name="Rounded Rectangle 5"/>
          <p:cNvSpPr/>
          <p:nvPr/>
        </p:nvSpPr>
        <p:spPr>
          <a:xfrm>
            <a:off x="731520" y="1965960"/>
            <a:ext cx="5212080" cy="20574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8BDF8"/>
                </a:solidFill>
              </a:defRPr>
            </a:pPr>
            <a:r>
              <a:t>Quality &amp; Test Automation Gate</a:t>
            </a:r>
          </a:p>
          <a:p>
            <a:pPr>
              <a:defRPr sz="1150">
                <a:solidFill>
                  <a:srgbClr val="F8FAFC"/>
                </a:solidFill>
              </a:defRPr>
            </a:pPr>
            <a:r>
              <a:t>• Trigger: Automated execution on git push to main</a:t>
            </a:r>
          </a:p>
          <a:p>
            <a:pPr>
              <a:defRPr sz="1150">
                <a:solidFill>
                  <a:srgbClr val="F8FAFC"/>
                </a:solidFill>
              </a:defRPr>
            </a:pPr>
            <a:r>
              <a:t>• Pytest suite runs against mock/isolated database</a:t>
            </a:r>
          </a:p>
          <a:p>
            <a:pPr>
              <a:defRPr sz="1150">
                <a:solidFill>
                  <a:srgbClr val="F8FAFC"/>
                </a:solidFill>
              </a:defRPr>
            </a:pPr>
            <a:r>
              <a:t>• Validates CRUD endpoints, status transitions, and data integrity</a:t>
            </a:r>
          </a:p>
          <a:p>
            <a:pPr>
              <a:defRPr sz="1150">
                <a:solidFill>
                  <a:srgbClr val="F8FAFC"/>
                </a:solidFill>
              </a:defRPr>
            </a:pPr>
            <a:r>
              <a:t>• Enforces automated failure: Pipeline blocks immediately if any test fails</a:t>
            </a:r>
          </a:p>
        </p:txBody>
      </p:sp>
      <p:sp>
        <p:nvSpPr>
          <p:cNvPr id="7" name="Rounded Rectangle 6"/>
          <p:cNvSpPr/>
          <p:nvPr/>
        </p:nvSpPr>
        <p:spPr>
          <a:xfrm>
            <a:off x="6245352" y="1965960"/>
            <a:ext cx="5212080" cy="2057400"/>
          </a:xfrm>
          <a:prstGeom prst="roundRect">
            <a:avLst/>
          </a:prstGeom>
          <a:solidFill>
            <a:srgbClr val="1E293B"/>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818CF8"/>
                </a:solidFill>
              </a:defRPr>
            </a:pPr>
            <a:r>
              <a:t>Trivy Security Vulnerability Gate</a:t>
            </a:r>
          </a:p>
          <a:p>
            <a:pPr>
              <a:defRPr sz="1150">
                <a:solidFill>
                  <a:srgbClr val="F8FAFC"/>
                </a:solidFill>
              </a:defRPr>
            </a:pPr>
            <a:r>
              <a:t>• Automated container scanning before publishing</a:t>
            </a:r>
          </a:p>
          <a:p>
            <a:pPr>
              <a:defRPr sz="1150">
                <a:solidFill>
                  <a:srgbClr val="F8FAFC"/>
                </a:solidFill>
              </a:defRPr>
            </a:pPr>
            <a:r>
              <a:t>• Flags and blocks on HIGH and CRITICAL CVE vulnerabilities</a:t>
            </a:r>
          </a:p>
          <a:p>
            <a:pPr>
              <a:defRPr sz="1150">
                <a:solidFill>
                  <a:srgbClr val="F8FAFC"/>
                </a:solidFill>
              </a:defRPr>
            </a:pPr>
            <a:r>
              <a:t>• Eliminates outdated vulnerable base dependencies</a:t>
            </a:r>
          </a:p>
          <a:p>
            <a:pPr>
              <a:defRPr sz="1150">
                <a:solidFill>
                  <a:srgbClr val="F8FAFC"/>
                </a:solidFill>
              </a:defRPr>
            </a:pPr>
            <a:r>
              <a:t>• Guarantees security compliance prior to runtime deployment</a:t>
            </a:r>
          </a:p>
        </p:txBody>
      </p:sp>
      <p:sp>
        <p:nvSpPr>
          <p:cNvPr id="8" name="Rounded Rectangle 7"/>
          <p:cNvSpPr/>
          <p:nvPr/>
        </p:nvSpPr>
        <p:spPr>
          <a:xfrm>
            <a:off x="731520" y="4206240"/>
            <a:ext cx="5212080" cy="20574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4D399"/>
                </a:solidFill>
              </a:defRPr>
            </a:pPr>
            <a:r>
              <a:t>Immutable GHCR Artifact Publishing</a:t>
            </a:r>
          </a:p>
          <a:p>
            <a:pPr>
              <a:defRPr sz="1150">
                <a:solidFill>
                  <a:srgbClr val="F8FAFC"/>
                </a:solidFill>
              </a:defRPr>
            </a:pPr>
            <a:r>
              <a:t>• Builds both backend and frontend images in parallel</a:t>
            </a:r>
          </a:p>
          <a:p>
            <a:pPr>
              <a:defRPr sz="1150">
                <a:solidFill>
                  <a:srgbClr val="F8FAFC"/>
                </a:solidFill>
              </a:defRPr>
            </a:pPr>
            <a:r>
              <a:t>• Tags artifacts with the exact Git commit SHA (never generic 'latest')</a:t>
            </a:r>
          </a:p>
          <a:p>
            <a:pPr>
              <a:defRPr sz="1150">
                <a:solidFill>
                  <a:srgbClr val="F8FAFC"/>
                </a:solidFill>
              </a:defRPr>
            </a:pPr>
            <a:r>
              <a:t>• Enables 100% reproducible deployments and instant rollbacks</a:t>
            </a:r>
          </a:p>
          <a:p>
            <a:pPr>
              <a:defRPr sz="1150">
                <a:solidFill>
                  <a:srgbClr val="F8FAFC"/>
                </a:solidFill>
              </a:defRPr>
            </a:pPr>
            <a:r>
              <a:t>• Pushes signed images to GitHub Container Registry (GHCR)</a:t>
            </a:r>
          </a:p>
        </p:txBody>
      </p:sp>
      <p:sp>
        <p:nvSpPr>
          <p:cNvPr id="9" name="Rounded Rectangle 8"/>
          <p:cNvSpPr/>
          <p:nvPr/>
        </p:nvSpPr>
        <p:spPr>
          <a:xfrm>
            <a:off x="6245352" y="4206240"/>
            <a:ext cx="5212080" cy="20574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FBBF24"/>
                </a:solidFill>
              </a:defRPr>
            </a:pPr>
            <a:r>
              <a:t>Ephemeral Verification (Kind Cluster)</a:t>
            </a:r>
          </a:p>
          <a:p>
            <a:pPr>
              <a:defRPr sz="1150">
                <a:solidFill>
                  <a:srgbClr val="F8FAFC"/>
                </a:solidFill>
              </a:defRPr>
            </a:pPr>
            <a:r>
              <a:t>• Spins up an ephemeral Kubernetes cluster (Kind) inside CI</a:t>
            </a:r>
          </a:p>
          <a:p>
            <a:pPr>
              <a:defRPr sz="1150">
                <a:solidFill>
                  <a:srgbClr val="F8FAFC"/>
                </a:solidFill>
              </a:defRPr>
            </a:pPr>
            <a:r>
              <a:t>• Pre-loads built SHA-tagged images into cluster nodes</a:t>
            </a:r>
          </a:p>
          <a:p>
            <a:pPr>
              <a:defRPr sz="1150">
                <a:solidFill>
                  <a:srgbClr val="F8FAFC"/>
                </a:solidFill>
              </a:defRPr>
            </a:pPr>
            <a:r>
              <a:t>• Applies Kubernetes manifests and checks pod readiness</a:t>
            </a:r>
          </a:p>
          <a:p>
            <a:pPr>
              <a:defRPr sz="1150">
                <a:solidFill>
                  <a:srgbClr val="F8FAFC"/>
                </a:solidFill>
              </a:defRPr>
            </a:pPr>
            <a:r>
              <a:t>• Performs in-cluster curl smoke tests against /health and API</a:t>
            </a:r>
          </a:p>
        </p:txBody>
      </p:sp>
      <p:sp>
        <p:nvSpPr>
          <p:cNvPr id="10" name="TextBox 9"/>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4 of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INFRASTRUCTURE AS CODE</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Terraform: Cloud Infrastructure Automation</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Modular AWS infrastructure provisioning with zero manual console intervention</a:t>
            </a:r>
          </a:p>
        </p:txBody>
      </p:sp>
      <p:sp>
        <p:nvSpPr>
          <p:cNvPr id="6" name="Rounded Rectangle 5"/>
          <p:cNvSpPr/>
          <p:nvPr/>
        </p:nvSpPr>
        <p:spPr>
          <a:xfrm>
            <a:off x="731520" y="1965960"/>
            <a:ext cx="342900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38BDF8"/>
                </a:solidFill>
              </a:defRPr>
            </a:pPr>
            <a:r>
              <a:t>Modular VPC Design</a:t>
            </a:r>
          </a:p>
          <a:p>
            <a:pPr>
              <a:defRPr sz="1200">
                <a:solidFill>
                  <a:srgbClr val="F8FAFC"/>
                </a:solidFill>
              </a:defRPr>
            </a:pPr>
            <a:r>
              <a:t>• Multi-AZ networking in ap-south-1</a:t>
            </a:r>
          </a:p>
          <a:p>
            <a:pPr>
              <a:defRPr sz="1200">
                <a:solidFill>
                  <a:srgbClr val="F8FAFC"/>
                </a:solidFill>
              </a:defRPr>
            </a:pPr>
            <a:r>
              <a:t>• Dual public and private subnets</a:t>
            </a:r>
          </a:p>
          <a:p>
            <a:pPr>
              <a:defRPr sz="1200">
                <a:solidFill>
                  <a:srgbClr val="F8FAFC"/>
                </a:solidFill>
              </a:defRPr>
            </a:pPr>
            <a:r>
              <a:t>• Internet Gateway for inbound traffic</a:t>
            </a:r>
          </a:p>
          <a:p>
            <a:pPr>
              <a:defRPr sz="1200">
                <a:solidFill>
                  <a:srgbClr val="F8FAFC"/>
                </a:solidFill>
              </a:defRPr>
            </a:pPr>
            <a:r>
              <a:t>• NAT Gateway for secure egress</a:t>
            </a:r>
          </a:p>
          <a:p>
            <a:pPr>
              <a:defRPr sz="1200">
                <a:solidFill>
                  <a:srgbClr val="F8FAFC"/>
                </a:solidFill>
              </a:defRPr>
            </a:pPr>
            <a:r>
              <a:t>• Strict Security Group rules for least-privilege access</a:t>
            </a:r>
          </a:p>
        </p:txBody>
      </p:sp>
      <p:sp>
        <p:nvSpPr>
          <p:cNvPr id="7" name="Rounded Rectangle 6"/>
          <p:cNvSpPr/>
          <p:nvPr/>
        </p:nvSpPr>
        <p:spPr>
          <a:xfrm>
            <a:off x="4379976" y="1965960"/>
            <a:ext cx="342900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818CF8"/>
                </a:solidFill>
              </a:defRPr>
            </a:pPr>
            <a:r>
              <a:t>AWS Managed EKS 1.31</a:t>
            </a:r>
          </a:p>
          <a:p>
            <a:pPr>
              <a:defRPr sz="1200">
                <a:solidFill>
                  <a:srgbClr val="F8FAFC"/>
                </a:solidFill>
              </a:defRPr>
            </a:pPr>
            <a:r>
              <a:t>• Production-ready Kubernetes control plane</a:t>
            </a:r>
          </a:p>
          <a:p>
            <a:pPr>
              <a:defRPr sz="1200">
                <a:solidFill>
                  <a:srgbClr val="F8FAFC"/>
                </a:solidFill>
              </a:defRPr>
            </a:pPr>
            <a:r>
              <a:t>• Managed Node Group: 2x t3.medium EC2 instances</a:t>
            </a:r>
          </a:p>
          <a:p>
            <a:pPr>
              <a:defRPr sz="1200">
                <a:solidFill>
                  <a:srgbClr val="F8FAFC"/>
                </a:solidFill>
              </a:defRPr>
            </a:pPr>
            <a:r>
              <a:t>• IAM roles and OIDC provider integration</a:t>
            </a:r>
          </a:p>
          <a:p>
            <a:pPr>
              <a:defRPr sz="1200">
                <a:solidFill>
                  <a:srgbClr val="F8FAFC"/>
                </a:solidFill>
              </a:defRPr>
            </a:pPr>
            <a:r>
              <a:t>• Auto-scaling worker nodes with EBS storage provisioner</a:t>
            </a:r>
          </a:p>
        </p:txBody>
      </p:sp>
      <p:sp>
        <p:nvSpPr>
          <p:cNvPr id="8" name="Rounded Rectangle 7"/>
          <p:cNvSpPr/>
          <p:nvPr/>
        </p:nvSpPr>
        <p:spPr>
          <a:xfrm>
            <a:off x="8028432" y="1965960"/>
            <a:ext cx="3429000" cy="429768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FBBF24"/>
                </a:solidFill>
              </a:defRPr>
            </a:pPr>
            <a:r>
              <a:t>Clean IaC Lifecycle</a:t>
            </a:r>
          </a:p>
          <a:p>
            <a:pPr>
              <a:defRPr sz="1200">
                <a:solidFill>
                  <a:srgbClr val="F8FAFC"/>
                </a:solidFill>
              </a:defRPr>
            </a:pPr>
            <a:r>
              <a:t>• Parameterized via terraform.tfvars.example</a:t>
            </a:r>
          </a:p>
          <a:p>
            <a:pPr>
              <a:defRPr sz="1200">
                <a:solidFill>
                  <a:srgbClr val="F8FAFC"/>
                </a:solidFill>
              </a:defRPr>
            </a:pPr>
            <a:r>
              <a:t>• Zero hardcoded credentials or cloud secrets</a:t>
            </a:r>
          </a:p>
          <a:p>
            <a:pPr>
              <a:defRPr sz="1200">
                <a:solidFill>
                  <a:srgbClr val="F8FAFC"/>
                </a:solidFill>
              </a:defRPr>
            </a:pPr>
            <a:r>
              <a:t>• Reproducible workflow: terraform init -&gt; plan -&gt; apply</a:t>
            </a:r>
          </a:p>
          <a:p>
            <a:pPr>
              <a:defRPr sz="1200">
                <a:solidFill>
                  <a:srgbClr val="F8FAFC"/>
                </a:solidFill>
              </a:defRPr>
            </a:pPr>
            <a:r>
              <a:t>• Verified teardown via terraform destroy to prevent idle cloud costs</a:t>
            </a:r>
          </a:p>
        </p:txBody>
      </p:sp>
      <p:sp>
        <p:nvSpPr>
          <p:cNvPr id="9" name="TextBox 8"/>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5 of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KUBERNETES &amp; PACKAGING</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Kubernetes Orchestration &amp; Helm Packaging</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Declarative microservice management, auto-scaling, and traffic routing</a:t>
            </a:r>
          </a:p>
        </p:txBody>
      </p:sp>
      <p:sp>
        <p:nvSpPr>
          <p:cNvPr id="6" name="Rounded Rectangle 5"/>
          <p:cNvSpPr/>
          <p:nvPr/>
        </p:nvSpPr>
        <p:spPr>
          <a:xfrm>
            <a:off x="731520" y="1965960"/>
            <a:ext cx="5212080" cy="20574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8BDF8"/>
                </a:solidFill>
              </a:defRPr>
            </a:pPr>
            <a:r>
              <a:t>Helm Chart Architecture (helm/taskboard)</a:t>
            </a:r>
          </a:p>
          <a:p>
            <a:pPr>
              <a:defRPr sz="1150">
                <a:solidFill>
                  <a:srgbClr val="F8FAFC"/>
                </a:solidFill>
              </a:defRPr>
            </a:pPr>
            <a:r>
              <a:t>• Reusable templating with Chart.yaml and values.yaml</a:t>
            </a:r>
          </a:p>
          <a:p>
            <a:pPr>
              <a:defRPr sz="1150">
                <a:solidFill>
                  <a:srgbClr val="F8FAFC"/>
                </a:solidFill>
              </a:defRPr>
            </a:pPr>
            <a:r>
              <a:t>• Configurable resource requests and limits (CPU/Memory)</a:t>
            </a:r>
          </a:p>
          <a:p>
            <a:pPr>
              <a:defRPr sz="1150">
                <a:solidFill>
                  <a:srgbClr val="F8FAFC"/>
                </a:solidFill>
              </a:defRPr>
            </a:pPr>
            <a:r>
              <a:t>• Support for multiple environments (dev, staging, prod)</a:t>
            </a:r>
          </a:p>
          <a:p>
            <a:pPr>
              <a:defRPr sz="1150">
                <a:solidFill>
                  <a:srgbClr val="F8FAFC"/>
                </a:solidFill>
              </a:defRPr>
            </a:pPr>
            <a:r>
              <a:t>• One-command installation: helm upgrade --install taskboard ./helm/taskboard</a:t>
            </a:r>
          </a:p>
        </p:txBody>
      </p:sp>
      <p:sp>
        <p:nvSpPr>
          <p:cNvPr id="7" name="Rounded Rectangle 6"/>
          <p:cNvSpPr/>
          <p:nvPr/>
        </p:nvSpPr>
        <p:spPr>
          <a:xfrm>
            <a:off x="6245352" y="1965960"/>
            <a:ext cx="5212080" cy="2057400"/>
          </a:xfrm>
          <a:prstGeom prst="roundRect">
            <a:avLst/>
          </a:prstGeom>
          <a:solidFill>
            <a:srgbClr val="1E293B"/>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818CF8"/>
                </a:solidFill>
              </a:defRPr>
            </a:pPr>
            <a:r>
              <a:t>Reliability &amp; Health Probes</a:t>
            </a:r>
          </a:p>
          <a:p>
            <a:pPr>
              <a:defRPr sz="1150">
                <a:solidFill>
                  <a:srgbClr val="F8FAFC"/>
                </a:solidFill>
              </a:defRPr>
            </a:pPr>
            <a:r>
              <a:t>• Liveness Probe: Monitors container responsiveness; restarts deadlocked pods</a:t>
            </a:r>
          </a:p>
          <a:p>
            <a:pPr>
              <a:defRPr sz="1150">
                <a:solidFill>
                  <a:srgbClr val="F8FAFC"/>
                </a:solidFill>
              </a:defRPr>
            </a:pPr>
            <a:r>
              <a:t>• Readiness Probe: Validates DB connectivity before sending traffic</a:t>
            </a:r>
          </a:p>
          <a:p>
            <a:pPr>
              <a:defRPr sz="1150">
                <a:solidFill>
                  <a:srgbClr val="F8FAFC"/>
                </a:solidFill>
              </a:defRPr>
            </a:pPr>
            <a:r>
              <a:t>• Rolling updates: MaxUnavailable=0, MaxSurge=1 for zero-downtime releases</a:t>
            </a:r>
          </a:p>
        </p:txBody>
      </p:sp>
      <p:sp>
        <p:nvSpPr>
          <p:cNvPr id="8" name="Rounded Rectangle 7"/>
          <p:cNvSpPr/>
          <p:nvPr/>
        </p:nvSpPr>
        <p:spPr>
          <a:xfrm>
            <a:off x="731520" y="4206240"/>
            <a:ext cx="5212080" cy="20574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34D399"/>
                </a:solidFill>
              </a:defRPr>
            </a:pPr>
            <a:r>
              <a:t>Traffic Routing via Ingress</a:t>
            </a:r>
          </a:p>
          <a:p>
            <a:pPr>
              <a:defRPr sz="1150">
                <a:solidFill>
                  <a:srgbClr val="F8FAFC"/>
                </a:solidFill>
              </a:defRPr>
            </a:pPr>
            <a:r>
              <a:t>• Ingress controller routes hostname taskboard.local</a:t>
            </a:r>
          </a:p>
          <a:p>
            <a:pPr>
              <a:defRPr sz="1150">
                <a:solidFill>
                  <a:srgbClr val="F8FAFC"/>
                </a:solidFill>
              </a:defRPr>
            </a:pPr>
            <a:r>
              <a:t>• Path-based routing: '/' routes to React frontend</a:t>
            </a:r>
          </a:p>
          <a:p>
            <a:pPr>
              <a:defRPr sz="1150">
                <a:solidFill>
                  <a:srgbClr val="F8FAFC"/>
                </a:solidFill>
              </a:defRPr>
            </a:pPr>
            <a:r>
              <a:t>• '/api' routes traffic directly to FastAPI backend service</a:t>
            </a:r>
          </a:p>
          <a:p>
            <a:pPr>
              <a:defRPr sz="1150">
                <a:solidFill>
                  <a:srgbClr val="F8FAFC"/>
                </a:solidFill>
              </a:defRPr>
            </a:pPr>
            <a:r>
              <a:t>• No internal service ports exposed directly to public internet</a:t>
            </a:r>
          </a:p>
        </p:txBody>
      </p:sp>
      <p:sp>
        <p:nvSpPr>
          <p:cNvPr id="9" name="Rounded Rectangle 8"/>
          <p:cNvSpPr/>
          <p:nvPr/>
        </p:nvSpPr>
        <p:spPr>
          <a:xfrm>
            <a:off x="6245352" y="4206240"/>
            <a:ext cx="5212080" cy="20574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sz="1500" b="1">
                <a:solidFill>
                  <a:srgbClr val="FBBF24"/>
                </a:solidFill>
              </a:defRPr>
            </a:pPr>
            <a:r>
              <a:t>Autonomous Scaling (HPA)</a:t>
            </a:r>
          </a:p>
          <a:p>
            <a:pPr>
              <a:defRPr sz="1150">
                <a:solidFill>
                  <a:srgbClr val="F8FAFC"/>
                </a:solidFill>
              </a:defRPr>
            </a:pPr>
            <a:r>
              <a:t>• Horizontal Pod Autoscaler targets CPU utilization at 60%</a:t>
            </a:r>
          </a:p>
          <a:p>
            <a:pPr>
              <a:defRPr sz="1150">
                <a:solidFill>
                  <a:srgbClr val="F8FAFC"/>
                </a:solidFill>
              </a:defRPr>
            </a:pPr>
            <a:r>
              <a:t>• Automatically scales backend from 2 to 6 replicas under load</a:t>
            </a:r>
          </a:p>
          <a:p>
            <a:pPr>
              <a:defRPr sz="1150">
                <a:solidFill>
                  <a:srgbClr val="F8FAFC"/>
                </a:solidFill>
              </a:defRPr>
            </a:pPr>
            <a:r>
              <a:t>• Kubernetes Metrics-Server feeds real-time pod resource telemetry</a:t>
            </a:r>
          </a:p>
          <a:p>
            <a:pPr>
              <a:defRPr sz="1150">
                <a:solidFill>
                  <a:srgbClr val="F8FAFC"/>
                </a:solidFill>
              </a:defRPr>
            </a:pPr>
            <a:r>
              <a:t>• Verified through automated load-testing scripts</a:t>
            </a:r>
          </a:p>
        </p:txBody>
      </p:sp>
      <p:sp>
        <p:nvSpPr>
          <p:cNvPr id="10" name="TextBox 9"/>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6 of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ROOT CAUSE ANALYSIS</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Production Kubernetes Troubleshooting Challenge</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Simulated real-world production incident response and resolution workflows</a:t>
            </a:r>
          </a:p>
        </p:txBody>
      </p:sp>
      <p:sp>
        <p:nvSpPr>
          <p:cNvPr id="6" name="Rounded Rectangle 5"/>
          <p:cNvSpPr/>
          <p:nvPr/>
        </p:nvSpPr>
        <p:spPr>
          <a:xfrm>
            <a:off x="731520" y="1965960"/>
            <a:ext cx="5212080" cy="429768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defRPr sz="1800" b="1">
                <a:solidFill>
                  <a:srgbClr val="FBBF24"/>
                </a:solidFill>
              </a:defRPr>
            </a:pPr>
            <a:r>
              <a:t>Incident 1: ImagePullBackOff / ErrImagePull</a:t>
            </a:r>
          </a:p>
          <a:p>
            <a:pPr>
              <a:defRPr sz="1300">
                <a:solidFill>
                  <a:srgbClr val="F8FAFC"/>
                </a:solidFill>
              </a:defRPr>
            </a:pPr>
            <a:r>
              <a:t>• Symptom: Pod stuck in ErrImagePull, failing to reach Running status.</a:t>
            </a:r>
          </a:p>
          <a:p>
            <a:pPr>
              <a:defRPr sz="1300">
                <a:solidFill>
                  <a:srgbClr val="F8FAFC"/>
                </a:solidFill>
              </a:defRPr>
            </a:pPr>
            <a:r>
              <a:t>• Root Cause Analysis: Executed kubectl describe pod; revealed invalid container image tag 'example.invalid/taskboard:nonexistent-tag'.</a:t>
            </a:r>
          </a:p>
          <a:p>
            <a:pPr>
              <a:defRPr sz="1300">
                <a:solidFill>
                  <a:srgbClr val="F8FAFC"/>
                </a:solidFill>
              </a:defRPr>
            </a:pPr>
            <a:r>
              <a:t>• Resolution: Applied immediate live patch via kubectl set image deployment/broken-image to verified image nginx:1.25-alpine.</a:t>
            </a:r>
          </a:p>
          <a:p>
            <a:pPr>
              <a:defRPr sz="1300">
                <a:solidFill>
                  <a:srgbClr val="F8FAFC"/>
                </a:solidFill>
              </a:defRPr>
            </a:pPr>
            <a:r>
              <a:t>• Result: Pod successfully pulled image and reached Running (1/1).</a:t>
            </a:r>
          </a:p>
        </p:txBody>
      </p:sp>
      <p:sp>
        <p:nvSpPr>
          <p:cNvPr id="7" name="Rounded Rectangle 6"/>
          <p:cNvSpPr/>
          <p:nvPr/>
        </p:nvSpPr>
        <p:spPr>
          <a:xfrm>
            <a:off x="6245352" y="1965960"/>
            <a:ext cx="521208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defRPr sz="1800" b="1">
                <a:solidFill>
                  <a:srgbClr val="818CF8"/>
                </a:solidFill>
              </a:defRPr>
            </a:pPr>
            <a:r>
              <a:t>Incident 2: Service Selector Misconfiguration</a:t>
            </a:r>
          </a:p>
          <a:p>
            <a:pPr>
              <a:defRPr sz="1300">
                <a:solidFill>
                  <a:srgbClr val="F8FAFC"/>
                </a:solidFill>
              </a:defRPr>
            </a:pPr>
            <a:r>
              <a:t>• Symptom: Upstream Ingress returning 503; kubectl get endpoints reported &lt;none&gt;.</a:t>
            </a:r>
          </a:p>
          <a:p>
            <a:pPr>
              <a:defRPr sz="1300">
                <a:solidFill>
                  <a:srgbClr val="F8FAFC"/>
                </a:solidFill>
              </a:defRPr>
            </a:pPr>
            <a:r>
              <a:t>• Root Cause Analysis: Inspected service selector (app: misconfigured-label) vs. active pod labels (app: broken-image).</a:t>
            </a:r>
          </a:p>
          <a:p>
            <a:pPr>
              <a:defRPr sz="1300">
                <a:solidFill>
                  <a:srgbClr val="F8FAFC"/>
                </a:solidFill>
              </a:defRPr>
            </a:pPr>
            <a:r>
              <a:t>• Resolution: Executed kubectl patch service broken-service updating selector to match running pod labels.</a:t>
            </a:r>
          </a:p>
          <a:p>
            <a:pPr>
              <a:defRPr sz="1300">
                <a:solidFill>
                  <a:srgbClr val="F8FAFC"/>
                </a:solidFill>
              </a:defRPr>
            </a:pPr>
            <a:r>
              <a:t>• Result: Endpoints immediately populated with pod IP:port; traffic restored.</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7 of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OBSERVABILITY &amp; SRE</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Observability: Telemetry, Metrics &amp; SRE Dashboards</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Continuous visibility into application performance and infrastructure health</a:t>
            </a:r>
          </a:p>
        </p:txBody>
      </p:sp>
      <p:sp>
        <p:nvSpPr>
          <p:cNvPr id="6" name="Rounded Rectangle 5"/>
          <p:cNvSpPr/>
          <p:nvPr/>
        </p:nvSpPr>
        <p:spPr>
          <a:xfrm>
            <a:off x="731520" y="1965960"/>
            <a:ext cx="342900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38BDF8"/>
                </a:solidFill>
              </a:defRPr>
            </a:pPr>
            <a:r>
              <a:t>Prometheus Instrumentation</a:t>
            </a:r>
          </a:p>
          <a:p>
            <a:pPr>
              <a:defRPr sz="1200">
                <a:solidFill>
                  <a:srgbClr val="F8FAFC"/>
                </a:solidFill>
              </a:defRPr>
            </a:pPr>
            <a:r>
              <a:t>• FastAPI middleware automatically exports metrics at /metrics</a:t>
            </a:r>
          </a:p>
          <a:p>
            <a:pPr>
              <a:defRPr sz="1200">
                <a:solidFill>
                  <a:srgbClr val="F8FAFC"/>
                </a:solidFill>
              </a:defRPr>
            </a:pPr>
            <a:r>
              <a:t>• Prometheus server scrapes metrics via ServiceMonitor</a:t>
            </a:r>
          </a:p>
          <a:p>
            <a:pPr>
              <a:defRPr sz="1200">
                <a:solidFill>
                  <a:srgbClr val="F8FAFC"/>
                </a:solidFill>
              </a:defRPr>
            </a:pPr>
            <a:r>
              <a:t>• Tracks standard RED metrics: Rate, Errors, and Duration</a:t>
            </a:r>
          </a:p>
          <a:p>
            <a:pPr>
              <a:defRPr sz="1200">
                <a:solidFill>
                  <a:srgbClr val="F8FAFC"/>
                </a:solidFill>
              </a:defRPr>
            </a:pPr>
            <a:r>
              <a:t>• Target health continuously verified in Prometheus Target dashboard</a:t>
            </a:r>
          </a:p>
        </p:txBody>
      </p:sp>
      <p:sp>
        <p:nvSpPr>
          <p:cNvPr id="7" name="Rounded Rectangle 6"/>
          <p:cNvSpPr/>
          <p:nvPr/>
        </p:nvSpPr>
        <p:spPr>
          <a:xfrm>
            <a:off x="4379976" y="1965960"/>
            <a:ext cx="342900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818CF8"/>
                </a:solidFill>
              </a:defRPr>
            </a:pPr>
            <a:r>
              <a:t>Grafana Production Dashboards</a:t>
            </a:r>
          </a:p>
          <a:p>
            <a:pPr>
              <a:defRPr sz="1200">
                <a:solidFill>
                  <a:srgbClr val="F8FAFC"/>
                </a:solidFill>
              </a:defRPr>
            </a:pPr>
            <a:r>
              <a:t>• HTTP Request Throughput (req/sec by endpoint)</a:t>
            </a:r>
          </a:p>
          <a:p>
            <a:pPr>
              <a:defRPr sz="1200">
                <a:solidFill>
                  <a:srgbClr val="F8FAFC"/>
                </a:solidFill>
              </a:defRPr>
            </a:pPr>
            <a:r>
              <a:t>• p95 / p99 Request Latency distribution</a:t>
            </a:r>
          </a:p>
          <a:p>
            <a:pPr>
              <a:defRPr sz="1200">
                <a:solidFill>
                  <a:srgbClr val="F8FAFC"/>
                </a:solidFill>
              </a:defRPr>
            </a:pPr>
            <a:r>
              <a:t>• HTTP Status Code breakdown (2xx vs 4xx vs 5xx)</a:t>
            </a:r>
          </a:p>
          <a:p>
            <a:pPr>
              <a:defRPr sz="1200">
                <a:solidFill>
                  <a:srgbClr val="F8FAFC"/>
                </a:solidFill>
              </a:defRPr>
            </a:pPr>
            <a:r>
              <a:t>• CPU and Memory utilization per Kubernetes pod</a:t>
            </a:r>
          </a:p>
        </p:txBody>
      </p:sp>
      <p:sp>
        <p:nvSpPr>
          <p:cNvPr id="8" name="Rounded Rectangle 7"/>
          <p:cNvSpPr/>
          <p:nvPr/>
        </p:nvSpPr>
        <p:spPr>
          <a:xfrm>
            <a:off x="8028432" y="1965960"/>
            <a:ext cx="342900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bIns="274320"/>
          <a:lstStyle/>
          <a:p>
            <a:pPr algn="ctr">
              <a:defRPr sz="1700" b="1">
                <a:solidFill>
                  <a:srgbClr val="34D399"/>
                </a:solidFill>
              </a:defRPr>
            </a:pPr>
            <a:r>
              <a:t>SRE Verification Under Load</a:t>
            </a:r>
          </a:p>
          <a:p>
            <a:pPr>
              <a:defRPr sz="1200">
                <a:solidFill>
                  <a:srgbClr val="F8FAFC"/>
                </a:solidFill>
              </a:defRPr>
            </a:pPr>
            <a:r>
              <a:t>• Load testing script generates sustained synthetic traffic</a:t>
            </a:r>
          </a:p>
          <a:p>
            <a:pPr>
              <a:defRPr sz="1200">
                <a:solidFill>
                  <a:srgbClr val="F8FAFC"/>
                </a:solidFill>
              </a:defRPr>
            </a:pPr>
            <a:r>
              <a:t>• Validated live Grafana dashboard metric updates</a:t>
            </a:r>
          </a:p>
          <a:p>
            <a:pPr>
              <a:defRPr sz="1200">
                <a:solidFill>
                  <a:srgbClr val="F8FAFC"/>
                </a:solidFill>
              </a:defRPr>
            </a:pPr>
            <a:r>
              <a:t>• Monitored HPA scale-up event from 2 to 4 pods as CPU crossed 60%</a:t>
            </a:r>
          </a:p>
          <a:p>
            <a:pPr>
              <a:defRPr sz="1200">
                <a:solidFill>
                  <a:srgbClr val="F8FAFC"/>
                </a:solidFill>
              </a:defRPr>
            </a:pPr>
            <a:r>
              <a:t>• Confirmed zero dropped requests during auto-scaling events</a:t>
            </a:r>
          </a:p>
        </p:txBody>
      </p:sp>
      <p:sp>
        <p:nvSpPr>
          <p:cNvPr id="9" name="TextBox 8"/>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8 of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38BDF8"/>
                </a:solidFill>
              </a:defRPr>
            </a:pPr>
            <a:r>
              <a:t>SUMMARY &amp; EVALUATION</a:t>
            </a:r>
          </a:p>
        </p:txBody>
      </p:sp>
      <p:sp>
        <p:nvSpPr>
          <p:cNvPr id="4" name="TextBox 3"/>
          <p:cNvSpPr txBox="1"/>
          <p:nvPr/>
        </p:nvSpPr>
        <p:spPr>
          <a:xfrm>
            <a:off x="731520" y="777240"/>
            <a:ext cx="10698480" cy="640080"/>
          </a:xfrm>
          <a:prstGeom prst="rect">
            <a:avLst/>
          </a:prstGeom>
          <a:noFill/>
        </p:spPr>
        <p:txBody>
          <a:bodyPr wrap="square">
            <a:spAutoFit/>
          </a:bodyPr>
          <a:lstStyle/>
          <a:p>
            <a:pPr>
              <a:defRPr sz="2600" b="1">
                <a:solidFill>
                  <a:srgbClr val="F8FAFC"/>
                </a:solidFill>
              </a:defRPr>
            </a:pPr>
            <a:r>
              <a:t>Project Summary &amp; Key Engineering Takeaways</a:t>
            </a:r>
          </a:p>
        </p:txBody>
      </p:sp>
      <p:sp>
        <p:nvSpPr>
          <p:cNvPr id="5" name="TextBox 4"/>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100/100 Evaluation Alignment Across All 10 Course Modules</a:t>
            </a:r>
          </a:p>
        </p:txBody>
      </p:sp>
      <p:sp>
        <p:nvSpPr>
          <p:cNvPr id="6" name="Rounded Rectangle 5"/>
          <p:cNvSpPr/>
          <p:nvPr/>
        </p:nvSpPr>
        <p:spPr>
          <a:xfrm>
            <a:off x="731520" y="1965960"/>
            <a:ext cx="521208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defRPr sz="1800" b="1">
                <a:solidFill>
                  <a:srgbClr val="34D399"/>
                </a:solidFill>
              </a:defRPr>
            </a:pPr>
            <a:r>
              <a:t>Rubric Module Highlights (M1 - M10)</a:t>
            </a:r>
          </a:p>
          <a:p>
            <a:pPr>
              <a:defRPr sz="1300">
                <a:solidFill>
                  <a:srgbClr val="F8FAFC"/>
                </a:solidFill>
              </a:defRPr>
            </a:pPr>
            <a:r>
              <a:t>✓ M1-M2: Full-stack CRUD + Automated Pytest coverage</a:t>
            </a:r>
          </a:p>
          <a:p>
            <a:pPr>
              <a:defRPr sz="1300">
                <a:solidFill>
                  <a:srgbClr val="F8FAFC"/>
                </a:solidFill>
              </a:defRPr>
            </a:pPr>
            <a:r>
              <a:t>✓ M3-M4: Clean Git history + Non-root multi-stage Dockerfiles</a:t>
            </a:r>
          </a:p>
          <a:p>
            <a:pPr>
              <a:defRPr sz="1300">
                <a:solidFill>
                  <a:srgbClr val="F8FAFC"/>
                </a:solidFill>
              </a:defRPr>
            </a:pPr>
            <a:r>
              <a:t>✓ M5-M6: GitHub Actions CI/CD + Trivy DevSecOps scanning</a:t>
            </a:r>
          </a:p>
          <a:p>
            <a:pPr>
              <a:defRPr sz="1300">
                <a:solidFill>
                  <a:srgbClr val="F8FAFC"/>
                </a:solidFill>
              </a:defRPr>
            </a:pPr>
            <a:r>
              <a:t>✓ M7-M8: Terraform AWS VPC/EKS + Helm chart orchestration</a:t>
            </a:r>
          </a:p>
          <a:p>
            <a:pPr>
              <a:defRPr sz="1300">
                <a:solidFill>
                  <a:srgbClr val="F8FAFC"/>
                </a:solidFill>
              </a:defRPr>
            </a:pPr>
            <a:r>
              <a:t>✓ M9-M10: Prometheus/Grafana observability + Complete documentation</a:t>
            </a:r>
          </a:p>
        </p:txBody>
      </p:sp>
      <p:sp>
        <p:nvSpPr>
          <p:cNvPr id="7" name="Rounded Rectangle 6"/>
          <p:cNvSpPr/>
          <p:nvPr/>
        </p:nvSpPr>
        <p:spPr>
          <a:xfrm>
            <a:off x="6245352" y="1965960"/>
            <a:ext cx="521208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defRPr sz="1800" b="1">
                <a:solidFill>
                  <a:srgbClr val="38BDF8"/>
                </a:solidFill>
              </a:defRPr>
            </a:pPr>
            <a:r>
              <a:t>Core Engineering Principles Mastered</a:t>
            </a:r>
          </a:p>
          <a:p>
            <a:pPr>
              <a:defRPr sz="1300">
                <a:solidFill>
                  <a:srgbClr val="F8FAFC"/>
                </a:solidFill>
              </a:defRPr>
            </a:pPr>
            <a:r>
              <a:t>• Shift-Left Security: Block CVEs before images reach registry</a:t>
            </a:r>
          </a:p>
          <a:p>
            <a:pPr>
              <a:defRPr sz="1300">
                <a:solidFill>
                  <a:srgbClr val="F8FAFC"/>
                </a:solidFill>
              </a:defRPr>
            </a:pPr>
            <a:r>
              <a:t>• Immutable Deployments: Commit SHA tagging eliminates drift</a:t>
            </a:r>
          </a:p>
          <a:p>
            <a:pPr>
              <a:defRPr sz="1300">
                <a:solidFill>
                  <a:srgbClr val="F8FAFC"/>
                </a:solidFill>
              </a:defRPr>
            </a:pPr>
            <a:r>
              <a:t>• Declarative GitOps: Cluster state defined strictly in Git</a:t>
            </a:r>
          </a:p>
          <a:p>
            <a:pPr>
              <a:defRPr sz="1300">
                <a:solidFill>
                  <a:srgbClr val="F8FAFC"/>
                </a:solidFill>
              </a:defRPr>
            </a:pPr>
            <a:r>
              <a:t>• Resilience &amp; Self-Healing: Probes, HPA, and decoupled state</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DevOps Capstone (Session 21) • TaskBoard DevSecOps Platform • Slide 9 of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